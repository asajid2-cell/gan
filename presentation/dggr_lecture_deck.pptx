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13.png"/><Relationship Id="rId6" Type="http://schemas.microsoft.com/office/2007/relationships/media" Target="../media/media2.mp3"/><Relationship Id="rId7" Type="http://schemas.openxmlformats.org/officeDocument/2006/relationships/video" Target="../media/media2.mp3"/><Relationship Id="rId8" Type="http://schemas.microsoft.com/office/2007/relationships/media" Target="../media/media3.mp3"/><Relationship Id="rId9" Type="http://schemas.openxmlformats.org/officeDocument/2006/relationships/video" Target="../media/media3.mp3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13.png"/><Relationship Id="rId6" Type="http://schemas.microsoft.com/office/2007/relationships/media" Target="../media/media5.mp3"/><Relationship Id="rId7" Type="http://schemas.openxmlformats.org/officeDocument/2006/relationships/video" Target="../media/media5.mp3"/><Relationship Id="rId8" Type="http://schemas.microsoft.com/office/2007/relationships/media" Target="../media/media6.mp3"/><Relationship Id="rId9" Type="http://schemas.openxmlformats.org/officeDocument/2006/relationships/video" Target="../media/media6.mp3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" y="4892040"/>
            <a:ext cx="2468880" cy="2468880"/>
          </a:xfrm>
          <a:prstGeom prst="ellipse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0"/>
            <a:ext cx="2011680" cy="2011680"/>
          </a:xfrm>
          <a:prstGeom prst="ellipse">
            <a:avLst/>
          </a:prstGeom>
          <a:solidFill>
            <a:srgbClr val="F6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45236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ptos"/>
              </a:rPr>
              <a:t>Music Style Transfer and Deep
Generative Genre Remastering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47088"/>
            <a:ext cx="5577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37381"/>
                </a:solidFill>
                <a:latin typeface="Aptos"/>
              </a:rPr>
              <a:t>50-minute lecture + DGGR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841248"/>
            <a:ext cx="3794760" cy="28437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Goal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Part I: general lecture on the field, model families, formulas, and evaluation.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Part II: our repo-backed system, what we implemented, and what the results actually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5146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ptos"/>
              </a:rPr>
              <a:t>Sahara Kaul  •  Kelsey Pattison  •  Ahmed Sajid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9864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CMPUT 414,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1/34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Talk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2926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Lecture half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Define content, style, and genre before discussing our project.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Cover representations, disentanglement, conditioning, codecs, diffusion, and long-form coherence.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Explain what a good evaluation protocol must measure.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67004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Case-study half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Show DGGR as one concrete architecture built from those ideas.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Walk lab by lab through architecture, metrics, decisions, and remaining failures.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Close with audio-demo guidance, creative elements, and Lab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2/34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General lecture: the field before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3/34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Why Music Style Transfer Is Hard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9502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The problem is not just timbre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 affects instrumentation, arrangement, articulation, groove feel, textural density, and production.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superficial timbre swap does not make the result sound as if it had been written in the target genre.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Audio errors are unforgiving: phase issues, smeared attacks, clicks, and warble are obvious to listeners.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320954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a serious system must solve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Separate content from style without obvious leakage.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Represent the target genre as a usable control signal.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Reconstruct realistic audio without destroying melodic identity.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Maintain consistency over longer time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4/34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Content, Style, and Genre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1821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Working definitions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Content: melody, harmonic motion, rhythmic backbone, phrase placement.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Style: timbre, articulation, groove, density, attack/decay, production texture.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Genre: a broader manifold shaped by convention, culture, era, and recurring stylistic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343814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the distinction matters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the target signal is too weak, the model only repaints surface texture.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content and style are not separated, strong edits erase the identity of the song.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good model moves the sample toward the target genre manifold while preserving recognizable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5/34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Problem Formulation</a:t>
            </a:r>
          </a:p>
        </p:txBody>
      </p:sp>
      <p:pic>
        <p:nvPicPr>
          <p:cNvPr id="3" name="Picture 2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62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output should sound like a plausible target-genre performance, not a filtered source.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implies at least three axes of success: content preservation, style fidelity, and realism.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systems add a fourth axis: coherence across chunk boundaries and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6/34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Representation Levels in Music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69417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Available levels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Waveforms capture acoustics directly but are hard spaces for semantic editing.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Time-frequency features such as log-mel, chroma, onsets, and beat grids expose structure more explicitly.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Symbolic formats like MIDI or note-rolls help with long-range organization but are weak for timbral realism.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318211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Design lesson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Strong systems usually combine levels rather than choosing only one.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Structure is often controlled in spectrogram or symbolic spaces, while realism is delegated to learned decoders or vocoders.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Our own project follows that hybrid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7/34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Historical Evolution of the Field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Typical approach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Core limitation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Early transfer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Direct mapping and signal tricks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Weak semantic control and obvious artifacts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Disentanglement era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Separate pitch, rhythm, timbre, or content/style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Leakage is difficult to remove and audit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High-fidelity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GANs, codecs, vocoders, diffusion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Control and training complexity increase sharply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systems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Hierarchical latents, anchoring, chunk policies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Drift and accumulation remain hard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8/34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What Evaluation Must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Axis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Common proxy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Content preservation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the song identity survive?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latent similarity, pitch or MPS-style metrics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Style fidelity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it move toward the target genre?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classifier confidence, centroid alignment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Audio realism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sound plausible?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MR-STFT, adversarial critics, listening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coherence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stay consistent over time?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boundary metrics, drift checks, human tests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9/34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1: Disentanglement</a:t>
            </a:r>
          </a:p>
        </p:txBody>
      </p:sp>
      <p:pic>
        <p:nvPicPr>
          <p:cNvPr id="3" name="Picture 2" descr="disent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content branch is rewarded for invariance and punished when style can be recovered from 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gradient reversal layer makes style suppression explicit rather than implicit.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Dual-encoder, U-Net, and sequence-analogy variants all try to separate factors, but none guarantee success without audits.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10/34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2: Target Style Spaces</a:t>
            </a:r>
          </a:p>
        </p:txBody>
      </p:sp>
      <p:pic>
        <p:nvPicPr>
          <p:cNvPr id="3" name="Picture 2" descr="target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62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target genre should be treated as a region in style space, not a single example or flat one-hot label.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Good target spaces have stable centroids, useful nearest-neighbor behavior, and clear class separation.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the style space collapses, every later generator looks weaker than it really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11/34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3: Conditioning Mechanisms</a:t>
            </a:r>
          </a:p>
        </p:txBody>
      </p:sp>
      <p:pic>
        <p:nvPicPr>
          <p:cNvPr id="3" name="Picture 2" descr="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62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FiLM allows a control vector to modulate intermediate activations throughout the network.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AdaIN is useful when style should act more like timbre or texture than global structure.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good architecture decides where style and structure should interact and where they should remain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12/34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4: Generator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Why people use it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Tradeoff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Waveform GANs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Fast parallel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Phase and local coherence are difficult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Spectral GANs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Better phase handling in structured domains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Need strong inversion or vocoding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Neural codec editors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Decoder acts as a realism prior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 translator can become too conservative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Diffusion models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Stable training and rich controllability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Slow inference and long-form drift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13/34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5: Diffusion and Guidance</a:t>
            </a:r>
          </a:p>
        </p:txBody>
      </p:sp>
      <p:pic>
        <p:nvPicPr>
          <p:cNvPr id="3" name="Picture 2" descr="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62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forward process destroys structure gradually and the reverse model learns to reconstruct 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Classifier-free guidance provides a direct knob over how strongly the model should chase the condition.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especially useful when style intensity and content preservation compete.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14/34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6: Long-Form Coherence</a:t>
            </a:r>
          </a:p>
        </p:txBody>
      </p:sp>
      <p:pic>
        <p:nvPicPr>
          <p:cNvPr id="3" name="Picture 2" descr="pre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SDEdit-style anchoring starts from a noised source rather than pure noise so macro-structure survives.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Overlap locking tries to make adjacent chunks compatible during sampling, not only after vocoding.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quality becomes a systems problem involving chunk policy, re-anchoring, and stabilization.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15/34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Field-Level Design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2926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to do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Measure representation quality separately from generation quality.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Listen to checkpoints rather than trusting only scalar metrics.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Use staged architectures when data and compute do not justify a monolithic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to avoid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Assuming a high genre score means the transfer is musically convincing.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Treating long-form crossfades as a substitute for coherence constraints.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Ignoring dataset-source confounds in the label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16/34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DGGR as a case study built from those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17/34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DGGR: Project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4381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we set out to build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staged genre-remastering pipeline rather than a shallow style filter.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1 deconstructs the source, Lab 2 builds the target blueprint, Lab 3 reconstructs audio, Lab 4 extends to long-form coherence.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5 is the planned perceptual validation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Current repo-backed status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Labs 1 through 4 are implemented in code.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We have saved metrics, training histories, generated clips, and long-form diagnostics.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strongest current evidence path is the codec branch for short-form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18/34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DGGR 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155448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Input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song or 5-second chunk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194560"/>
            <a:ext cx="1737360" cy="914400"/>
          </a:xfrm>
          <a:prstGeom prst="roundRect">
            <a:avLst/>
          </a:prstGeom>
          <a:solidFill>
            <a:srgbClr val="E8F1E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1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deconstruction</a:t>
            </a:r>
            <a:br/>
            <a:r>
              <a:t>z_content / z_style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94560"/>
            <a:ext cx="1737360" cy="914400"/>
          </a:xfrm>
          <a:prstGeom prst="roundRect">
            <a:avLst/>
          </a:prstGeom>
          <a:solidFill>
            <a:srgbClr val="FFFDF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target160</a:t>
            </a:r>
            <a:br/>
            <a:r>
              <a:t>centroids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3A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codec translator</a:t>
            </a:r>
            <a:br/>
            <a:r>
              <a:t>EnCodec + FiLM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2608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3B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diffusion V2</a:t>
            </a:r>
            <a:br/>
            <a:r>
              <a:t>mel + BigVGAN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194560"/>
            <a:ext cx="173736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4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long-form coherence</a:t>
            </a:r>
            <a:br/>
            <a:r>
              <a:t>prefix 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0624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17920" y="192024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65176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192024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21040" y="265176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663440"/>
            <a:ext cx="98755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500" b="1">
                <a:solidFill>
                  <a:srgbClr val="147A73"/>
                </a:solidFill>
                <a:latin typeface="Aptos"/>
              </a:rPr>
              <a:t>Thesis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system is staged because each lab solves one field-level problem explicitly instead of hiding everything inside a single end-to-end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19/34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Data Universe and Label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0449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the workflow currently uses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Baroque/classical renders, hip-hop material, lo-fi material, open-domain CC0 music, and speech negatives for the gate.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Observed Lab 2 class buckets: baroque_classical 411, cc0_other 1200, hiphop_xtc 1200, lofi_hh_lfbb 1200.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318211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this is a real risk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 labels can correlate with dataset source and recording conditions.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model may learn source fingerprints instead of transferable style.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not a side note; it changes how we interpret every later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20/34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1: Deconstruction Encoder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1821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Input: 96-bin log-mel spectrogram from a fixed 5-second chunk.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Backbone: 3-block Conv2D encoder with stride-2 downsampling, global pooling, and shared projection.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Heads: z_content, z_style, style probe, adversarial style-from-content probe, and music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318211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this matters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Every later module assumes style and content can be recombined cleanly.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training curriculum increases adversarial pressure and sharpens gate behavior over phases.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Without this step, the later generator becomes a brittle edit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21/34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1: Measured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24963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Best observed audit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 probe accuracy: 0.9417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Content leakage above baseline: 0.1083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Gate ROC AUC: 0.9299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All three pass the project thresholds.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67004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Interpretation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z_style is informative.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z_content is substantially style-suppressed.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gate separates music from non-music reliably, though thresholding still trades precision for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22/34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2: Building the Target160 Style Space</a:t>
            </a:r>
          </a:p>
        </p:txBody>
      </p:sp>
      <p:pic>
        <p:nvPicPr>
          <p:cNvPr id="3" name="Picture 2" descr="lab2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415137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target160 combines a 128D learned style vector with 32 mel-descriptor statistics.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Per-genre centroids are computed after inlier filtering to avoid blueprint drift.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point of the space is not only separation but generator-usable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t-SNE from the current Lab 2 calibration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23/34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2: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24963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Current metrics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Linear probe accuracy: 0.8554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Nearest centroid accuracy: 0.8514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Silhouette (cosine): 0.4939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project threshold was silhouette &gt;= 0.45.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the result means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target space is separated enough to act as a real conditioning blueprint.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why later improvements in generation are believable rather than accidental.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2 is upstream of Lab 3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24/34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3A: Codec-Latent Translator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4381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Operate on EnCodec quantized embeddings rather than raw waveform samples.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Conv1D in-projection, hidden width 256, 10 FiLM-conditioned residual blocks, then Conv1D back to 128 channels.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Condition vector combines z_content, target style, and small noise.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Key decision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best run uses direct-output mode instead of residual mode.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That removes the identity leash that was limiting style-shift magnitude.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EnCodec decoder provides a realism prior for short-form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3A: Loss Stack and Best Run</a:t>
            </a:r>
          </a:p>
        </p:txBody>
      </p:sp>
      <p:pic>
        <p:nvPicPr>
          <p:cNvPr id="3" name="Picture 2" descr="codec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369417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Best saved run: run1055.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MPS 0.9565, style confidence 0.8940, style accuracy 0.9492.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strongest explanation is the combination of MERT-based conditioning, direct output, and explicit content preservation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26/34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3B: Diffusion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4381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 tensor: [B, 15, 80, 432] = noisy mel + chroma + onset + beat-grid channels.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UNet channels [64, 128, 256, 256], two residual blocks per level, low-resolution attention, EMA shadow model.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Output: [B, 1, 80, 432] velocity/noise prediction for DDIM sampling.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15798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Condition split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time + content -&gt; FiLM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 -&gt; dedicated StyleAdaIN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separation is intended to keep texture control from overwhelming melody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27/34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Diffusion Training Behavior</a:t>
            </a:r>
          </a:p>
        </p:txBody>
      </p:sp>
      <p:pic>
        <p:nvPicPr>
          <p:cNvPr id="3" name="Picture 2" descr="diffusion_v2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Best numeric validation loss occurs late, but the team selected epoch 6 as the best-sounding checkpoint.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is a standard generative-audio lesson: the perceptual optimum can arrive before the scalar optimum.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diffusion branch remains the more ambitious but less reliable reconstruction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validation loss history for the current V2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28/34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4: Long-Form Coherence Diagnostics</a:t>
            </a:r>
          </a:p>
        </p:txBody>
      </p:sp>
      <p:pic>
        <p:nvPicPr>
          <p:cNvPr id="3" name="Picture 2" descr="longf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415137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64 overlapping chunks over a 160-second song.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Boundary mel MSE mean 0.0018347, boundary discontinuity mean 2.8691 dB.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Seams are not the main failure mode; warble and static accumulation are harder problems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full-song coherence diagnostics over 160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29/34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Quantitative Summary Across Labs</a:t>
            </a:r>
          </a:p>
        </p:txBody>
      </p:sp>
      <p:pic>
        <p:nvPicPr>
          <p:cNvPr id="3" name="Picture 2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415137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 1 and Lab 2 both clear their target thresholds.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codec branch is the strongest current short-form evidence path.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Open gaps remain in diffusion quality, long-form texture stability, and human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repo-backed metric summary generated from saved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30/34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Demo Slide: Short-Form Codec Examples</a:t>
            </a:r>
          </a:p>
        </p:txBody>
      </p:sp>
      <p:pic>
        <p:nvPicPr>
          <p:cNvPr id="3" name="Picture 2" descr="demo_audi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263640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60120"/>
            <a:ext cx="3703320" cy="38130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codec_src1_tgt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1463040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6952" y="1444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CC0 other to lo-fi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codec_src1_tgt3.mp3</a:t>
            </a:r>
          </a:p>
        </p:txBody>
      </p:sp>
      <p:pic>
        <p:nvPicPr>
          <p:cNvPr id="7" name="codec_src2_tgt1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121408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6952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hip-hop to open-domain other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codec_src2_tgt1.mp3</a:t>
            </a:r>
          </a:p>
        </p:txBody>
      </p:sp>
      <p:pic>
        <p:nvPicPr>
          <p:cNvPr id="9" name="codec_src3_tgt0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779776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6952" y="27614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lo-fi to baroque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codec_src3_tgt0.mp3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354787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Listen for melody survival, target-genre plausibility, and whether the output sounds like audio rather than a synthetic artifact.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546811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spectrogram montage from the best codec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31/34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Demo Slide: Diffusion and Long-Form Excerpts</a:t>
            </a:r>
          </a:p>
        </p:txBody>
      </p:sp>
      <p:pic>
        <p:nvPicPr>
          <p:cNvPr id="3" name="Picture 2" descr="longform_excerp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263640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60120"/>
            <a:ext cx="3703320" cy="4251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diffusion_v2_epoch6_gen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1463040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6952" y="1444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Diffusion V2 sample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diffusion_v2_epoch6_gen0.mp3</a:t>
            </a:r>
          </a:p>
        </p:txBody>
      </p:sp>
      <p:pic>
        <p:nvPicPr>
          <p:cNvPr id="7" name="longform_source_excerpt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121408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6952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Source excerpt 30s to 50s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longform_source_excerpt.mp3</a:t>
            </a:r>
          </a:p>
        </p:txBody>
      </p:sp>
      <p:pic>
        <p:nvPicPr>
          <p:cNvPr id="9" name="longform_remaster_excerpt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779776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6952" y="27614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Remastered excerpt same segment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longform_remaster_excerpt.mp3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354787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Here the listening question changes: continuity, phrasing, and artifact buildup matter more than isolated short-form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546811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source/remaster excerpt comparison plus diffusion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32/34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Creative Elements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34381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the project is not generic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Structure-first framing of genre remastering rather than shallow timbre swapping.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staged architecture with explicit deconstruction, calibration, reconstruction, and coherence stages.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Direct-output codec translation, MERT-based conditioning, and prefix-lock sampling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Where the work remains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Dataset-source leakage is still a real risk.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Diffusion quality still trails codec transfer on short-form reliability.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audio still accumulates warble and static under stronger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33/34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5 and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24140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Lab 5 must answer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Can listeners identify the target genre?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Can they still recognize the source melody?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Do they prefer our remaster to a simpler filter-style baseline?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2926080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>
            <a:spAutoFit/>
          </a:bodyPr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Bottom line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repo already supports a credible architecture story and measurable intermediate success.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remaining question is no longer whether the system runs.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real question is whether people actually hear the intended effect convincingly.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34/34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